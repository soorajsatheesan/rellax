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Leveraging compound components for flexible, controlled UI APIs
[Takeaway]
Compound components enable intuitive APIs with internal state sharing via context, balancing flexibility and performance.
[Speaker Notes]
This slide introduces the compound components pattern in React, which is a powerful way to design flexible and extensible component libraries. Make sure to emphasize that while prop drilling is the traditional way to share state, compound components solve this elegantly using React context to keep state internal and composable. Point out how memoizing context values reduces unnecessary renders of child components, a subtle but key performance strategy. Walk through the Accordion example, clarifying how static child components consume shared context to toggle state.
[Narration]
Hey, Sudarshan, let's explore the compound components pattern — a design that leverages React's context API to share state among related components without cumbersome prop drilling. Inside the parent, we use React.createContext to hold and provide state, exposing children as static properties for intuitive usage. Memoizing the context value is crucial; it prevents unnecessary re-renders when unrelated parts of the context change. Take an Accordion UI: the Accordion provides open state via context, while Accordion.Item consumes this to toggle visibility. However, avoid over-sharing data in context to keep render boundaries tight and performance optimal.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Extracting reusable logic and managing complex state in React
[Takeaway]
Custom hooks plus useReducer enforce modular, testable logic handling complex state and side-effects efficiently.
[Speaker Notes]
Highlight the role of custom hooks in cleanly extracting stateful logic, which enhances reuse and separation of concerns. Stress inclusion of all dependencies in effect hooks to avoid stale closures. Explain why useReducer is better than useState for complex, multi-faceted state transitions, noting the importance of pure reducers and action creators to prevent bugs. Illustrate debugging by logging actions and state transitions, which can be a helpful practice in complex workflows.
[Narration]
Custom hooks unlock the power of encapsulating reusable and isolated stateful logic. For example, a useDebouncedValue hook delays input updates, optimizing expensive operations like live search by throttling changes. Always include all relevant dependencies in your effects to avoid stale closures, a subtle bug trap. For complex state, useReducer shines by centralizing transitions in a pure reducer function, enhancing predictability and testability. Employ action creators to standardize dispatches and reduce typos. Debugging complex reducer state becomes much easier when you log both actions and resulting state transitions, clarifying behavior during evolution of your app's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Efficient async state, caching, and type-safe Redux with RTK
[Takeaway]
Leverage Redux Toolkit and React Query to build scalable, efficient state layers with robust async support.
[Speaker Notes]
Focus on how Redux Toolkit streamlines Redux usage with createSlice, typed actions, and async thunks, reducing boilerplate and improving type safety. Explain RTK Query's provision of caching, automatic re-fetching, and invalidation features for server side state, highlighting how it complements Redux. Caution about nested state shapes and performance implications, and advise against using React Context for high-frequency data. Clarify distinctions between client and server state management tools.
[Narration]
Efficient state management is the backbone of scalable React apps. Redux Toolkit revolutionizes this by cutting boilerplate through createSlice and typed action creators, while createAsyncThunk elegantly handles async actions with lifecycle dispatches—pending, fulfilled, and rejected. On the server state front, RTK Query offers automated caching, smart re-fetching, and invalidation, lifting much of the heavy lifting. React Query further excels at managing server data with background syncing and mutation tracking. To optimize performance, normalize your Redux state shape to avoid deeply nested objects that complicate immutable updates, and avoid high-frequency changing data in React Context, which can trigger excessive re-renders.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Reducing bundle sizes and preventing unnecessary re-renders
[Takeaway]
Combine lazy loading with strategic memoization and profiling tools to optimize React app performance.
[Speaker Notes]
Explain the benefits and tradeoffs of code splitting via React.lazy and Suspense to reduce initial bundle size, emphasizing it’s best for route-based or rarely used components. Clarify useMemo and useCallback for memoizing calculations and callbacks to prevent unnecessary re-renders, but also warn against over-memoization costs in memory and complexity. Stress importance of stable keys in lists for reconciliation. Mention profiling tools like React DevTools Profiler and WhyDidYouRender to detect wasted renders and optimize effectively.
[Narration]
Performance tuning is about smartly reducing work during renders and load times. React.lazy combined with Suspense enables code splitting, letting you load components dynamically—ideal for routes or infrequently used features—trimming your initial bundle and speeding page loads. Memoization with useMemo and useCallback prevents unnecessary recalculations and child component re-renders by stabilizing values and functions. But overusing memoization can waste memory and complicate code, so always profile first. Don't forget stable, unique keys on lists to enable React's efficient reconciliation and avoid extraneous DOM operations. Use React DevTools Profiler and libraries like WhyDidYouRender to uncover hidden render bottlenecks and optimize precisely.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Understanding differences in reactivity and state management
[Takeaway]
Vue's reactive dependency tracking contrasts React's re-render model, providing complementary approaches to state updates.
[Speaker Notes]
Contrast Vue’s fine-grained reactive dependency tracking with React’s Virtual DOM coarse re-rendering approach, explaining how Vue minimizes unnecessary subtree renders. Describe how Vue’s setup() organizes logic with reactive refs and reactive objects, and how templates cleanly separate markup from logic, versus React JSX blending them. Suggest that understanding both models can improve architectural decisions and debugging strategies—valuable insights for engineers expanding their toolkit.
[Narration]
Vue 3’s Composition API reorganizes component logic with setup(), leveraging reactive refs and reactive objects to track dependencies precisely. This granular reactivity enables Vue to update only what truly changes, minimizing subtree re-renders and often delivering faster initial renders than React’s Virtual DOM, which triggers broader re-rendering on state or prop changes. Vue's template syntax cleanly separates markup from logic, contrasting React's JSX blend of both. Understanding these distinct reactivity models empowers you to choose the best approach for your project and sharpens debugging intuition by appreciating how updates propagate differently under the hood.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Building scalable apps using React Router and form validation strategies
[Takeaway]
Robust routing and form handling with async state management are cornerstone techniques for large React apps.
[Speaker Notes]
Dive into the latest React Router v6 features like nested routes and route loaders that fetch data before rendering, enhancing UX and code organization. Highlight lazy-loading routes for performance gains. Introduce React Hook Form with validation libraries like Yup for robust, declarative form validation. Compare briefly with Vue’s v-model and vee-validate approach. Show how React Query can integrate with forms for async validations and dynamic option fetching with debounced inputs. Emphasize graceful loading and error states to smooth user experience during async operations.
[Narration]
Building scalable React apps means mastering routing and form management intricacies. React Router v6 brings powerful features like nested routes and route loaders, allowing you to preload data before the UI renders, which reduces flickering and improves perceived performance. Lazy loading route components complements this by trimming your initial JS bundle. For forms, React Hook Form paired with Yup schema validation provides performant, declarative input handling, which rivals Vue’s concise v-model and vee-validate combo. Tightly integrate React Query to manage async validations or dynamically fetch options, employing debounced inputs to avoid flooding servers. Always design forms to handle loading and error states gracefully, maintaining a seamless experience even during network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1</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React Patterns: Compound Components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Leveraging compound components for flexible, controlled UI APIs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Compound components use React context to share state internally, enabling tight control without prop drilling.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React.createContext inside the parent to hold shared state, exposing child components as static properties.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Memoize context value to prevent unnecessary renders of all child components.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Children consume context via useContext to determine rendering and trigger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Example: Accordion with Accordion and Accordion.Item, where items toggle open state.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Pitfall: Avoid over-sharing context data to minimize re-render scope; isolate context per logical component.</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showing parent component providing context to multiple child components toggling state</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Compound components enable intuitive APIs with internal state sharing via context, balancing flexibility and performance.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This slide introduces the compound components pattern in React, which is a powerful way to design flexible and extensible component libraries. Make sure to emphasize that while prop drilling is the traditional way to share state, compound components solve this elegantly using React context to keep state internal and composable. Point out how memoizing context values reduces unnecessary renders of child components, a subtle but key performance strategy. Walk through the Accordion example, clarifying how static child components consume shared context to toggle state.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2</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Custom Hooks and useReducer for Complex Logic</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Extracting reusable logic and managing complex state in React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Extract stateful logic into custom hooks for reuse and separation of concerns.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Example: useDebouncedValue to delay processing inputs, optimizing expensive operations like search.</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Include all dependencies in effects to avoid stale closures and bugs.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useReducer replaces useState in intricate state transitions, keeping reducers pure and predictable.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action creators to standardize dispatch calls and prevent typos.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Debugging tip: Log actions and state transitions in reducers to trace complex state updates.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Flowchart showing data through custom hooks and reducer state transitions</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Custom hooks plus useReducer enforce modular, testable logic handling complex state and side-effects efficiently.</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Highlight the role of custom hooks in cleanly extracting stateful logic, which enhances reuse and separation of concerns. Stress inclusion of all dependencies in effect hooks to avoid stale closures. Explain why useReducer is better than useState for complex, multi-faceted state transitions, noting the importance of pure reducers and action creators to prevent bugs. Illustrate debugging by logging actions and state transitions, which can be a helpful practice in complex workflows.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3</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State Management: Redux Toolkit and React Query</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Efficient async state, caching, and type-safe Redux with RTK</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Redux Toolkit reduces boilerplate via createSlice and typed action creators, improving maintainability.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createAsyncThunk simplifies async logic with lifecycle actions (pending, fulfilled, rejected).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RTK Query provides built-in caching, automatic re-fetching, and invalidation for server state.</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 Query complements Redux by managing server state, background sync, and mutation tracking.</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Performance tip: Normalize state shapes to avoid deeply nested structures that impede immutability.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Pitfall: Avoid putting high-frequency changing data into React Context to prevent excess renders.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contrasting client cache layers between Redux and React Query</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Leverage Redux Toolkit and React Query to build scalable, efficient state layers with robust async support.</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Focus on how Redux Toolkit streamlines Redux usage with createSlice, typed actions, and async thunks, reducing boilerplate and improving type safety. Explain RTK Query's provision of caching, automatic re-fetching, and invalidation features for server side state, highlighting how it complements Redux. Caution about nested state shapes and performance implications, and advise against using React Context for high-frequency data. Clarify distinctions between client and server state management tools.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4</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Performance Optimization: Code Splitting &amp; Memoization</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Reducing bundle sizes and preventing unnecessary re-renders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React.lazy with Suspense enables dynamic code loading to split bundle and improve initial load.</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Ideal for route-based or rarely used components to defer loading cost.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Memoize expensive calculations with useMemo and stable callbacks with useCallback to avoid child re-renders.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Over-memoization increases memory use and complexity; profile before applying widely.</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Always assign stable keys in lists to prevent reconciliation errors and unnecessary DOM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 DevTools Profiler and WhyDidYouRender library to identify render bottlenecks in components.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Chart showing component render times before and after memoization</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Combine lazy loading with strategic memoization and profiling tools to optimize React app performance.</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Explain the benefits and tradeoffs of code splitting via React.lazy and Suspense to reduce initial bundle size, emphasizing it’s best for route-based or rarely used components. Clarify useMemo and useCallback for memoizing calculations and callbacks to prevent unnecessary re-renders, but also warn against over-memoization costs in memory and complexity. Stress importance of stable keys in lists for reconciliation. Mention profiling tools like React DevTools Profiler and WhyDidYouRender to detect wasted renders and optimize effectively.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5</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Vue 3 Composition API vs React Hooks: Reactivity Models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Understanding differences in reactivity and state management</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 3 Composition API organizes logic in setup() using reactive refs and reactive objects.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 tracks dependencies on reactive data with fine-grained effects for granular updates, minimizing re-renders.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 uses Virtual DOM re-renders triggered by state or props changes, resulting in coarse updates.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Vue's dependency-tracking model enables faster initial renders and avoids unnecessary subtree renders.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Templates in Vue separate markup cleanly, whereas React's JSX blends logic and view.</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Integrating Vue concepts helps choose the best approach per project and improves debugging skills.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Side-by-side depiction of Vue reactive dependencies vs React re-rendering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Vue's reactive dependency tracking contrasts React's re-render model, providing complementary approaches to state updates.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Contrast Vue’s fine-grained reactive dependency tracking with React’s Virtual DOM coarse re-rendering approach, explaining how Vue minimizes unnecessary subtree renders. Describe how Vue’s setup() organizes logic with reactive refs and reactive objects, and how templates cleanly separate markup from logic, versus React JSX blending them. Suggest that understanding both models can improve architectural decisions and debugging strategies—valuable insights for engineers expanding their toolkit.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A"/>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3F675B"/>
          </a:solidFill>
          <a:ln w="12700">
            <a:solidFill>
              <a:srgbClr val="3F675B"/>
            </a:solidFill>
            <a:prstDash val="solid"/>
          </a:ln>
        </p:spPr>
      </p:sp>
      <p:sp>
        <p:nvSpPr>
          <p:cNvPr id="3" name="Text 1"/>
          <p:cNvSpPr/>
          <p:nvPr/>
        </p:nvSpPr>
        <p:spPr>
          <a:xfrm>
            <a:off x="640080" y="274320"/>
            <a:ext cx="8046720" cy="274320"/>
          </a:xfrm>
          <a:prstGeom prst="rect">
            <a:avLst/>
          </a:prstGeom>
          <a:noFill/>
          <a:ln/>
        </p:spPr>
        <p:txBody>
          <a:bodyPr wrap="square" rtlCol="0" anchor="ctr"/>
          <a:lstStyle/>
          <a:p>
            <a:pPr indent="0" marL="0">
              <a:buNone/>
            </a:pPr>
            <a:r>
              <a:rPr lang="en-US" sz="2200" b="1" dirty="0">
                <a:solidFill>
                  <a:srgbClr val="FFFFFF"/>
                </a:solidFill>
                <a:latin typeface="Aptos Display" pitchFamily="34" charset="0"/>
                <a:ea typeface="Aptos Display" pitchFamily="34" charset="-122"/>
                <a:cs typeface="Aptos Display" pitchFamily="34" charset="-120"/>
              </a:rPr>
              <a:t>Deep Dive into Modern Frontend Frameworks: Advanced React and Ecosystem</a:t>
            </a:r>
            <a:endParaRPr lang="en-US" sz="2200" dirty="0"/>
          </a:p>
        </p:txBody>
      </p:sp>
      <p:sp>
        <p:nvSpPr>
          <p:cNvPr id="4" name="Text 2"/>
          <p:cNvSpPr/>
          <p:nvPr/>
        </p:nvSpPr>
        <p:spPr>
          <a:xfrm>
            <a:off x="10058400" y="310896"/>
            <a:ext cx="1463040" cy="201168"/>
          </a:xfrm>
          <a:prstGeom prst="rect">
            <a:avLst/>
          </a:prstGeom>
          <a:noFill/>
          <a:ln/>
        </p:spPr>
        <p:txBody>
          <a:bodyPr wrap="square" rtlCol="0" anchor="ctr"/>
          <a:lstStyle/>
          <a:p>
            <a:pPr algn="r" indent="0" marL="0">
              <a:buNone/>
            </a:pPr>
            <a:r>
              <a:rPr lang="en-US" sz="900" dirty="0">
                <a:solidFill>
                  <a:srgbClr val="E7EFE9"/>
                </a:solidFill>
                <a:latin typeface="Aptos" pitchFamily="34" charset="0"/>
                <a:ea typeface="Aptos" pitchFamily="34" charset="-122"/>
                <a:cs typeface="Aptos" pitchFamily="34" charset="-120"/>
              </a:rPr>
              <a:t>Part 6</a:t>
            </a:r>
            <a:endParaRPr lang="en-US" sz="900" dirty="0"/>
          </a:p>
        </p:txBody>
      </p:sp>
      <p:sp>
        <p:nvSpPr>
          <p:cNvPr id="5" name="Text 3"/>
          <p:cNvSpPr/>
          <p:nvPr/>
        </p:nvSpPr>
        <p:spPr>
          <a:xfrm>
            <a:off x="640080" y="1234440"/>
            <a:ext cx="7223760" cy="548640"/>
          </a:xfrm>
          <a:prstGeom prst="rect">
            <a:avLst/>
          </a:prstGeom>
          <a:noFill/>
          <a:ln/>
        </p:spPr>
        <p:txBody>
          <a:bodyPr wrap="square" rtlCol="0" anchor="ctr"/>
          <a:lstStyle/>
          <a:p>
            <a:pPr indent="0" marL="0">
              <a:buNone/>
            </a:pPr>
            <a:r>
              <a:rPr lang="en-US" sz="2500" b="1" dirty="0">
                <a:solidFill>
                  <a:srgbClr val="1F2933"/>
                </a:solidFill>
                <a:latin typeface="Aptos Display" pitchFamily="34" charset="0"/>
                <a:ea typeface="Aptos Display" pitchFamily="34" charset="-122"/>
                <a:cs typeface="Aptos Display" pitchFamily="34" charset="-120"/>
              </a:rPr>
              <a:t>Advanced Routing and Forms: Practical App Considerations</a:t>
            </a:r>
            <a:endParaRPr lang="en-US" sz="2500" dirty="0"/>
          </a:p>
        </p:txBody>
      </p:sp>
      <p:sp>
        <p:nvSpPr>
          <p:cNvPr id="6" name="Text 4"/>
          <p:cNvSpPr/>
          <p:nvPr/>
        </p:nvSpPr>
        <p:spPr>
          <a:xfrm>
            <a:off x="822960" y="1828800"/>
            <a:ext cx="91440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Focus</a:t>
            </a:r>
            <a:endParaRPr lang="en-US" sz="1000" dirty="0"/>
          </a:p>
        </p:txBody>
      </p:sp>
      <p:sp>
        <p:nvSpPr>
          <p:cNvPr id="7" name="Text 5"/>
          <p:cNvSpPr/>
          <p:nvPr/>
        </p:nvSpPr>
        <p:spPr>
          <a:xfrm>
            <a:off x="1417320" y="1783080"/>
            <a:ext cx="5394960" cy="320040"/>
          </a:xfrm>
          <a:prstGeom prst="rect">
            <a:avLst/>
          </a:prstGeom>
          <a:noFill/>
          <a:ln/>
        </p:spPr>
        <p:txBody>
          <a:bodyPr wrap="square" rtlCol="0" anchor="ctr"/>
          <a:lstStyle/>
          <a:p>
            <a:pPr indent="0" marL="0">
              <a:buNone/>
            </a:pPr>
            <a:r>
              <a:rPr lang="en-US" sz="1400" b="1" dirty="0">
                <a:solidFill>
                  <a:srgbClr val="1F2933"/>
                </a:solidFill>
                <a:latin typeface="Aptos" pitchFamily="34" charset="0"/>
                <a:ea typeface="Aptos" pitchFamily="34" charset="-122"/>
                <a:cs typeface="Aptos" pitchFamily="34" charset="-120"/>
              </a:rPr>
              <a:t>Building scalable apps using React Router and form validation strategies</a:t>
            </a:r>
            <a:endParaRPr lang="en-US" sz="1400" dirty="0"/>
          </a:p>
        </p:txBody>
      </p:sp>
      <p:sp>
        <p:nvSpPr>
          <p:cNvPr id="8" name="Text 6"/>
          <p:cNvSpPr/>
          <p:nvPr/>
        </p:nvSpPr>
        <p:spPr>
          <a:xfrm>
            <a:off x="822960" y="2331720"/>
            <a:ext cx="6217920" cy="2331720"/>
          </a:xfrm>
          <a:prstGeom prst="rect">
            <a:avLst/>
          </a:prstGeom>
          <a:noFill/>
          <a:ln/>
        </p:spPr>
        <p:txBody>
          <a:bodyPr wrap="square" rtlCol="0" anchor="t"/>
          <a:lstStyle/>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React Router v6 supports nested routes and route loaders facilitating data fetching before render.</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Lazy load route components to optimize initial app load and speed perceived navigation.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Use React Hook Form with schema libraries like Yup for performant, declarative validation.</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Vue uses v-model binding with validation solutions like vee-validate for concise form management.</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Integrate React Query within forms for async validation and dynamic option fetching with debounced inputs.</a:t>
            </a:r>
            <a:endParaRPr lang="en-US" sz="1600" dirty="0"/>
          </a:p>
          <a:p>
            <a:pPr marL="228600" indent="-228600">
              <a:spcAft>
                <a:spcPts val="1000"/>
              </a:spcAft>
              <a:buSzPct val="100000"/>
              <a:buChar char="•"/>
            </a:pPr>
            <a:r>
              <a:rPr lang="en-US" sz="1600" dirty="0">
                <a:solidFill>
                  <a:srgbClr val="334155"/>
                </a:solidFill>
                <a:latin typeface="Aptos" pitchFamily="34" charset="0"/>
                <a:ea typeface="Aptos" pitchFamily="34" charset="-122"/>
                <a:cs typeface="Aptos" pitchFamily="34" charset="-120"/>
              </a:rPr>
              <a:t>Handle loading states and errors in UI gracefully to maintain smooth user experience during async operations.</a:t>
            </a:r>
            <a:endParaRPr lang="en-US" sz="1600" dirty="0"/>
          </a:p>
        </p:txBody>
      </p:sp>
      <p:sp>
        <p:nvSpPr>
          <p:cNvPr id="9" name="Shape 7"/>
          <p:cNvSpPr/>
          <p:nvPr/>
        </p:nvSpPr>
        <p:spPr>
          <a:xfrm>
            <a:off x="7498080" y="1508760"/>
            <a:ext cx="4023360" cy="2103120"/>
          </a:xfrm>
          <a:prstGeom prst="roundRect">
            <a:avLst>
              <a:gd name="adj" fmla="val 5217"/>
            </a:avLst>
          </a:prstGeom>
          <a:solidFill>
            <a:srgbClr val="E8EFE9"/>
          </a:solidFill>
          <a:ln w="12700">
            <a:solidFill>
              <a:srgbClr val="C7D7CC"/>
            </a:solidFill>
            <a:prstDash val="solid"/>
          </a:ln>
        </p:spPr>
      </p:sp>
      <p:sp>
        <p:nvSpPr>
          <p:cNvPr id="10" name="Text 8"/>
          <p:cNvSpPr/>
          <p:nvPr/>
        </p:nvSpPr>
        <p:spPr>
          <a:xfrm>
            <a:off x="7818120" y="1783080"/>
            <a:ext cx="1645920" cy="182880"/>
          </a:xfrm>
          <a:prstGeom prst="rect">
            <a:avLst/>
          </a:prstGeom>
          <a:noFill/>
          <a:ln/>
        </p:spPr>
        <p:txBody>
          <a:bodyPr wrap="square" rtlCol="0" anchor="ctr"/>
          <a:lstStyle/>
          <a:p>
            <a:pPr indent="0" marL="0">
              <a:buNone/>
            </a:pPr>
            <a:r>
              <a:rPr lang="en-US" sz="1000" b="1" dirty="0">
                <a:solidFill>
                  <a:srgbClr val="3F675B"/>
                </a:solidFill>
                <a:latin typeface="Aptos" pitchFamily="34" charset="0"/>
                <a:ea typeface="Aptos" pitchFamily="34" charset="-122"/>
                <a:cs typeface="Aptos" pitchFamily="34" charset="-120"/>
              </a:rPr>
              <a:t>Visual direction</a:t>
            </a:r>
            <a:endParaRPr lang="en-US" sz="1000" dirty="0"/>
          </a:p>
        </p:txBody>
      </p:sp>
      <p:sp>
        <p:nvSpPr>
          <p:cNvPr id="11" name="Text 9"/>
          <p:cNvSpPr/>
          <p:nvPr/>
        </p:nvSpPr>
        <p:spPr>
          <a:xfrm>
            <a:off x="7818120" y="2057400"/>
            <a:ext cx="3383280" cy="1005840"/>
          </a:xfrm>
          <a:prstGeom prst="rect">
            <a:avLst/>
          </a:prstGeom>
          <a:noFill/>
          <a:ln/>
        </p:spPr>
        <p:txBody>
          <a:bodyPr wrap="square" rtlCol="0" anchor="ctr"/>
          <a:lstStyle/>
          <a:p>
            <a:pPr algn="l" indent="0" marL="0">
              <a:buNone/>
            </a:pPr>
            <a:r>
              <a:rPr lang="en-US" sz="1500" dirty="0">
                <a:solidFill>
                  <a:srgbClr val="284236"/>
                </a:solidFill>
                <a:latin typeface="Aptos" pitchFamily="34" charset="0"/>
                <a:ea typeface="Aptos" pitchFamily="34" charset="-122"/>
                <a:cs typeface="Aptos" pitchFamily="34" charset="-120"/>
              </a:rPr>
              <a:t>Diagram illustrating nested route hierarchy and form validation flow</a:t>
            </a:r>
            <a:endParaRPr lang="en-US" sz="1500" dirty="0"/>
          </a:p>
        </p:txBody>
      </p:sp>
      <p:sp>
        <p:nvSpPr>
          <p:cNvPr id="12" name="Shape 10"/>
          <p:cNvSpPr/>
          <p:nvPr/>
        </p:nvSpPr>
        <p:spPr>
          <a:xfrm>
            <a:off x="7498080" y="3886200"/>
            <a:ext cx="4023360" cy="1234440"/>
          </a:xfrm>
          <a:prstGeom prst="roundRect">
            <a:avLst>
              <a:gd name="adj" fmla="val 8889"/>
            </a:avLst>
          </a:prstGeom>
          <a:solidFill>
            <a:srgbClr val="F2EBDD"/>
          </a:solidFill>
          <a:ln w="12700">
            <a:solidFill>
              <a:srgbClr val="E1D4BA"/>
            </a:solidFill>
            <a:prstDash val="solid"/>
          </a:ln>
        </p:spPr>
      </p:sp>
      <p:sp>
        <p:nvSpPr>
          <p:cNvPr id="13" name="Text 11"/>
          <p:cNvSpPr/>
          <p:nvPr/>
        </p:nvSpPr>
        <p:spPr>
          <a:xfrm>
            <a:off x="7818120" y="4069080"/>
            <a:ext cx="1188720" cy="182880"/>
          </a:xfrm>
          <a:prstGeom prst="rect">
            <a:avLst/>
          </a:prstGeom>
          <a:noFill/>
          <a:ln/>
        </p:spPr>
        <p:txBody>
          <a:bodyPr wrap="square" rtlCol="0" anchor="ctr"/>
          <a:lstStyle/>
          <a:p>
            <a:pPr indent="0" marL="0">
              <a:buNone/>
            </a:pPr>
            <a:r>
              <a:rPr lang="en-US" sz="1000" b="1" dirty="0">
                <a:solidFill>
                  <a:srgbClr val="8A5A12"/>
                </a:solidFill>
                <a:latin typeface="Aptos" pitchFamily="34" charset="0"/>
                <a:ea typeface="Aptos" pitchFamily="34" charset="-122"/>
                <a:cs typeface="Aptos" pitchFamily="34" charset="-120"/>
              </a:rPr>
              <a:t>Takeaway</a:t>
            </a:r>
            <a:endParaRPr lang="en-US" sz="1000" dirty="0"/>
          </a:p>
        </p:txBody>
      </p:sp>
      <p:sp>
        <p:nvSpPr>
          <p:cNvPr id="14" name="Text 12"/>
          <p:cNvSpPr/>
          <p:nvPr/>
        </p:nvSpPr>
        <p:spPr>
          <a:xfrm>
            <a:off x="7818120" y="4343400"/>
            <a:ext cx="3383280" cy="502920"/>
          </a:xfrm>
          <a:prstGeom prst="rect">
            <a:avLst/>
          </a:prstGeom>
          <a:noFill/>
          <a:ln/>
        </p:spPr>
        <p:txBody>
          <a:bodyPr wrap="square" rtlCol="0" anchor="ctr"/>
          <a:lstStyle/>
          <a:p>
            <a:pPr indent="0" marL="0">
              <a:buNone/>
            </a:pPr>
            <a:r>
              <a:rPr lang="en-US" sz="1400" b="1" dirty="0">
                <a:solidFill>
                  <a:srgbClr val="6B4F2A"/>
                </a:solidFill>
                <a:latin typeface="Aptos" pitchFamily="34" charset="0"/>
                <a:ea typeface="Aptos" pitchFamily="34" charset="-122"/>
                <a:cs typeface="Aptos" pitchFamily="34" charset="-120"/>
              </a:rPr>
              <a:t>Robust routing and form handling with async state management are cornerstone techniques for large React apps.</a:t>
            </a:r>
            <a:endParaRPr lang="en-US" sz="1400" dirty="0"/>
          </a:p>
        </p:txBody>
      </p:sp>
      <p:sp>
        <p:nvSpPr>
          <p:cNvPr id="15" name="Text 13"/>
          <p:cNvSpPr/>
          <p:nvPr/>
        </p:nvSpPr>
        <p:spPr>
          <a:xfrm>
            <a:off x="731520" y="4892040"/>
            <a:ext cx="10789920" cy="1143000"/>
          </a:xfrm>
          <a:prstGeom prst="rect">
            <a:avLst/>
          </a:prstGeom>
          <a:noFill/>
          <a:ln/>
        </p:spPr>
        <p:txBody>
          <a:bodyPr wrap="square" rtlCol="0" anchor="ctr"/>
          <a:lstStyle/>
          <a:p>
            <a:pPr indent="0" marL="0">
              <a:buNone/>
            </a:pPr>
            <a:r>
              <a:rPr lang="en-US" sz="1000" i="1" dirty="0">
                <a:solidFill>
                  <a:srgbClr val="5B6472"/>
                </a:solidFill>
                <a:latin typeface="Aptos" pitchFamily="34" charset="0"/>
                <a:ea typeface="Aptos" pitchFamily="34" charset="-122"/>
                <a:cs typeface="Aptos" pitchFamily="34" charset="-120"/>
              </a:rPr>
              <a:t>Presenter note: Dive into the latest React Router v6 features like nested routes and route loaders that fetch data before rendering, enhancing UX and code organization. Highlight lazy-loading routes for performance gains. Introduce React Hook Form with validation libraries like Yup for robust, declarative form validation. Compare briefly with Vue’s v-model and vee-validate approach. Show how React Query can integrate with forms for async validations and dynamic option fetching with debounced inputs. Emphasize graceful loading and error states to smooth user experience during async operations.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Rellax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Dive into Modern Frontend Frameworks: Advanced React and Ecosystem</dc:title>
  <dc:subject>Structured to elevate Sudarshan’s practical React skills to expert level, this module covers advanced React patterns, performance optimization, hooks, context, state management best practices, and introduces Vue.js basics for broader framework familiarity aligned with Veyon's preferences.</dc:subject>
  <dc:creator>Rellax</dc:creator>
  <cp:lastModifiedBy>Rellax</cp:lastModifiedBy>
  <cp:revision>1</cp:revision>
  <dcterms:created xsi:type="dcterms:W3CDTF">2026-03-21T09:45:18Z</dcterms:created>
  <dcterms:modified xsi:type="dcterms:W3CDTF">2026-03-21T09:45:18Z</dcterms:modified>
</cp:coreProperties>
</file>